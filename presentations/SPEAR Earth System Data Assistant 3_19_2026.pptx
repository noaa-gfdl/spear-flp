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0073b02c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0073b02c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359635f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359635f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235c2d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62235c2d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0073b02c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0073b02c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2b802e8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2b802e8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2b802e81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2b802e81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62235c2d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62235c2d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2b802e81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2b802e81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b802e81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2b802e81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2b802e81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2b802e81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2b802e81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2b802e81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2b802e81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2b802e81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2b802e81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2b802e81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2b802e81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2b802e81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2b802e81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2b802e81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2b802e815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2b802e815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bf9f0efb5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bf9f0efb5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2b802e81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2b802e81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bf9f0efb5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bf9f0efb5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dark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364550" y="4050150"/>
            <a:ext cx="4220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National Oceanic and Atmospheric Administration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U.S. Department of Commerce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550" y="4050150"/>
            <a:ext cx="4113900" cy="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1971600" y="1781550"/>
            <a:ext cx="52008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4650" y="3435625"/>
            <a:ext cx="1404700" cy="1404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light">
  <p:cSld name="TITLE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/>
        </p:nvSpPr>
        <p:spPr>
          <a:xfrm>
            <a:off x="364550" y="4050150"/>
            <a:ext cx="4220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National Oceanic and Atmospheric Administration</a:t>
            </a:r>
            <a:endParaRPr sz="1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U.S. Department of Commerce</a:t>
            </a:r>
            <a:endParaRPr sz="1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4550" y="4050150"/>
            <a:ext cx="4113900" cy="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1971600" y="1781550"/>
            <a:ext cx="52008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4650" y="3435625"/>
            <a:ext cx="1404700" cy="1404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">
  <p:cSld name="TITLE_AND_BODY_3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1662600" y="4810375"/>
            <a:ext cx="58188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GFDL Data Science Group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 | National Oceanic and Atmospheric Administration</a:t>
            </a:r>
            <a:r>
              <a:rPr lang="en" sz="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| NOAA.gov 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 rot="5400000">
            <a:off x="7414500" y="2458625"/>
            <a:ext cx="3246600" cy="21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■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■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■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b="1"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-photo">
  <p:cSld name="TITLE_AND_BODY_3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/>
          <p:nvPr/>
        </p:nvSpPr>
        <p:spPr>
          <a:xfrm rot="5400000">
            <a:off x="7414500" y="2458625"/>
            <a:ext cx="3246600" cy="21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708675" y="3225125"/>
            <a:ext cx="5746800" cy="362700"/>
          </a:xfrm>
          <a:prstGeom prst="rect">
            <a:avLst/>
          </a:prstGeom>
          <a:solidFill>
            <a:srgbClr val="0085CA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1708675" y="3587825"/>
            <a:ext cx="5736900" cy="1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/>
          <p:nvPr>
            <p:ph idx="3" type="pic"/>
          </p:nvPr>
        </p:nvSpPr>
        <p:spPr>
          <a:xfrm>
            <a:off x="1698750" y="941550"/>
            <a:ext cx="5746800" cy="21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b="1"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1662600" y="4810375"/>
            <a:ext cx="58188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GFDL Data Science Group | National Oceanic and Atmospheric Administration</a:t>
            </a:r>
            <a:r>
              <a:rPr lang="en" sz="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| NOAA.gov 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-photo">
  <p:cSld name="TITLE_AND_BODY_3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 rot="5400000">
            <a:off x="7414500" y="2458625"/>
            <a:ext cx="3246600" cy="212400"/>
          </a:xfrm>
          <a:prstGeom prst="rect">
            <a:avLst/>
          </a:prstGeom>
          <a:solidFill>
            <a:srgbClr val="0085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/>
          <p:nvPr>
            <p:ph idx="2" type="pic"/>
          </p:nvPr>
        </p:nvSpPr>
        <p:spPr>
          <a:xfrm>
            <a:off x="311770" y="941550"/>
            <a:ext cx="4052100" cy="21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6"/>
          <p:cNvSpPr/>
          <p:nvPr>
            <p:ph idx="3" type="pic"/>
          </p:nvPr>
        </p:nvSpPr>
        <p:spPr>
          <a:xfrm>
            <a:off x="4619632" y="941550"/>
            <a:ext cx="4052100" cy="21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b="1"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" type="subTitle"/>
          </p:nvPr>
        </p:nvSpPr>
        <p:spPr>
          <a:xfrm>
            <a:off x="311775" y="3225125"/>
            <a:ext cx="4052100" cy="362700"/>
          </a:xfrm>
          <a:prstGeom prst="rect">
            <a:avLst/>
          </a:prstGeom>
          <a:solidFill>
            <a:srgbClr val="0085CA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4" type="body"/>
          </p:nvPr>
        </p:nvSpPr>
        <p:spPr>
          <a:xfrm>
            <a:off x="311775" y="3587825"/>
            <a:ext cx="4045200" cy="1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5" type="subTitle"/>
          </p:nvPr>
        </p:nvSpPr>
        <p:spPr>
          <a:xfrm>
            <a:off x="4619625" y="3225125"/>
            <a:ext cx="4052100" cy="362700"/>
          </a:xfrm>
          <a:prstGeom prst="rect">
            <a:avLst/>
          </a:prstGeom>
          <a:solidFill>
            <a:srgbClr val="0085CA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6" type="body"/>
          </p:nvPr>
        </p:nvSpPr>
        <p:spPr>
          <a:xfrm>
            <a:off x="4619625" y="3587825"/>
            <a:ext cx="4045200" cy="1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1662600" y="4810375"/>
            <a:ext cx="58188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GFDL Data Science Group | National Oceanic and Atmospheric Administration</a:t>
            </a:r>
            <a:r>
              <a:rPr lang="en" sz="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| NOAA.gov 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ple-photo">
  <p:cSld name="TITLE_AND_BODY_3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1662600" y="4810375"/>
            <a:ext cx="58188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GFDL Data Science Group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 | National Oceanic and Atmospheric Administration</a:t>
            </a:r>
            <a:r>
              <a:rPr lang="en" sz="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| NOAA.gov </a:t>
            </a:r>
            <a:endParaRPr sz="80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 rot="5400000">
            <a:off x="7414500" y="2458625"/>
            <a:ext cx="3246600" cy="21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"/>
          <p:cNvSpPr/>
          <p:nvPr>
            <p:ph idx="2" type="pic"/>
          </p:nvPr>
        </p:nvSpPr>
        <p:spPr>
          <a:xfrm>
            <a:off x="311746" y="941550"/>
            <a:ext cx="2641800" cy="211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3" type="pic"/>
          </p:nvPr>
        </p:nvSpPr>
        <p:spPr>
          <a:xfrm>
            <a:off x="3166583" y="941550"/>
            <a:ext cx="2641800" cy="211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4" type="pic"/>
          </p:nvPr>
        </p:nvSpPr>
        <p:spPr>
          <a:xfrm>
            <a:off x="6026022" y="941550"/>
            <a:ext cx="2641800" cy="211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b="1"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None/>
              <a:defRPr sz="3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311750" y="3225125"/>
            <a:ext cx="2641800" cy="362700"/>
          </a:xfrm>
          <a:prstGeom prst="rect">
            <a:avLst/>
          </a:prstGeom>
          <a:solidFill>
            <a:srgbClr val="0085CA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311750" y="3587825"/>
            <a:ext cx="2637300" cy="1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3166575" y="3225125"/>
            <a:ext cx="2641800" cy="362700"/>
          </a:xfrm>
          <a:prstGeom prst="rect">
            <a:avLst/>
          </a:prstGeom>
          <a:solidFill>
            <a:srgbClr val="0085CA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3166575" y="3587825"/>
            <a:ext cx="2637300" cy="1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6021400" y="3225125"/>
            <a:ext cx="2641800" cy="362700"/>
          </a:xfrm>
          <a:prstGeom prst="rect">
            <a:avLst/>
          </a:prstGeom>
          <a:solidFill>
            <a:srgbClr val="0085CA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6021400" y="3587825"/>
            <a:ext cx="2637300" cy="1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ff-center">
  <p:cSld name="TITLE_AND_BODY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2911050" y="4810375"/>
            <a:ext cx="6233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GFDL Data Science Group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| National Oceanic and Atmospheric Administration</a:t>
            </a:r>
            <a:r>
              <a:rPr lang="en" sz="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| NOAA.gov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/>
          <p:nvPr>
            <p:ph idx="2" type="pic"/>
          </p:nvPr>
        </p:nvSpPr>
        <p:spPr>
          <a:xfrm>
            <a:off x="-75" y="0"/>
            <a:ext cx="2911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8"/>
          <p:cNvSpPr/>
          <p:nvPr>
            <p:ph idx="3" type="pic"/>
          </p:nvPr>
        </p:nvSpPr>
        <p:spPr>
          <a:xfrm>
            <a:off x="-75" y="0"/>
            <a:ext cx="2911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8"/>
          <p:cNvSpPr/>
          <p:nvPr/>
        </p:nvSpPr>
        <p:spPr>
          <a:xfrm rot="5400000">
            <a:off x="7414500" y="2458625"/>
            <a:ext cx="3246600" cy="21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3166400" y="292625"/>
            <a:ext cx="5512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 b="1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1743"/>
              </a:buClr>
              <a:buSzPts val="2800"/>
              <a:buFont typeface="Calibri"/>
              <a:buNone/>
              <a:defRPr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1" type="body"/>
          </p:nvPr>
        </p:nvSpPr>
        <p:spPr>
          <a:xfrm>
            <a:off x="3166400" y="863550"/>
            <a:ext cx="56658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■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■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■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CUSTOM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-7450" y="-9825"/>
            <a:ext cx="9144000" cy="113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9"/>
          <p:cNvSpPr/>
          <p:nvPr/>
        </p:nvSpPr>
        <p:spPr>
          <a:xfrm rot="10800000">
            <a:off x="368350" y="1015650"/>
            <a:ext cx="3246600" cy="21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1662600" y="4810375"/>
            <a:ext cx="58188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GFDL Data Science Group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| National Oceanic and Atmospheric Administration</a:t>
            </a:r>
            <a:r>
              <a:rPr lang="en" sz="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| NOAA.gov </a:t>
            </a:r>
            <a:r>
              <a:rPr lang="en"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b="1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image-left">
  <p:cSld name="TITLE_AND_BODY_2_3_1">
    <p:bg>
      <p:bgPr>
        <a:solidFill>
          <a:schemeClr val="accent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0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948413"/>
            <a:ext cx="4394100" cy="3246675"/>
            <a:chOff x="0" y="948413"/>
            <a:chExt cx="4394100" cy="3246675"/>
          </a:xfrm>
        </p:grpSpPr>
        <p:sp>
          <p:nvSpPr>
            <p:cNvPr id="76" name="Google Shape;76;p10"/>
            <p:cNvSpPr/>
            <p:nvPr/>
          </p:nvSpPr>
          <p:spPr>
            <a:xfrm rot="10800000">
              <a:off x="0" y="948413"/>
              <a:ext cx="4394100" cy="3246600"/>
            </a:xfrm>
            <a:prstGeom prst="rect">
              <a:avLst/>
            </a:prstGeom>
            <a:solidFill>
              <a:srgbClr val="0085CA">
                <a:alpha val="76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0"/>
            <p:cNvSpPr/>
            <p:nvPr/>
          </p:nvSpPr>
          <p:spPr>
            <a:xfrm rot="-5400000">
              <a:off x="-1516675" y="2465588"/>
              <a:ext cx="3246600" cy="21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0"/>
          <p:cNvSpPr txBox="1"/>
          <p:nvPr>
            <p:ph type="title"/>
          </p:nvPr>
        </p:nvSpPr>
        <p:spPr>
          <a:xfrm>
            <a:off x="515100" y="1252875"/>
            <a:ext cx="3577200" cy="26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image-center">
  <p:cSld name="TITLE_AND_BODY_2_2_2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1411500" y="1054650"/>
            <a:ext cx="6321000" cy="3246600"/>
          </a:xfrm>
          <a:prstGeom prst="rect">
            <a:avLst/>
          </a:prstGeom>
          <a:solidFill>
            <a:srgbClr val="0085CA">
              <a:alpha val="767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/>
          <p:nvPr/>
        </p:nvSpPr>
        <p:spPr>
          <a:xfrm rot="10800000">
            <a:off x="1411650" y="842250"/>
            <a:ext cx="6319500" cy="21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1742550" y="1136975"/>
            <a:ext cx="5665800" cy="7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image-right">
  <p:cSld name="TITLE_AND_BODY_2_1_2">
    <p:bg>
      <p:bgPr>
        <a:solidFill>
          <a:schemeClr val="accent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8" name="Google Shape;88;p12"/>
          <p:cNvGrpSpPr/>
          <p:nvPr/>
        </p:nvGrpSpPr>
        <p:grpSpPr>
          <a:xfrm>
            <a:off x="4750325" y="948413"/>
            <a:ext cx="4394100" cy="3246675"/>
            <a:chOff x="4750325" y="948413"/>
            <a:chExt cx="4394100" cy="3246675"/>
          </a:xfrm>
        </p:grpSpPr>
        <p:sp>
          <p:nvSpPr>
            <p:cNvPr id="89" name="Google Shape;89;p12"/>
            <p:cNvSpPr/>
            <p:nvPr/>
          </p:nvSpPr>
          <p:spPr>
            <a:xfrm>
              <a:off x="4750325" y="948488"/>
              <a:ext cx="4394100" cy="3246600"/>
            </a:xfrm>
            <a:prstGeom prst="rect">
              <a:avLst/>
            </a:prstGeom>
            <a:solidFill>
              <a:srgbClr val="0085CA">
                <a:alpha val="76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 rot="5400000">
              <a:off x="7414500" y="2465513"/>
              <a:ext cx="3246600" cy="21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2"/>
          <p:cNvSpPr txBox="1"/>
          <p:nvPr>
            <p:ph type="title"/>
          </p:nvPr>
        </p:nvSpPr>
        <p:spPr>
          <a:xfrm>
            <a:off x="5045175" y="1252875"/>
            <a:ext cx="3577200" cy="26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Calibri"/>
              <a:buNone/>
              <a:defRPr b="1" sz="2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oaa-gfdl.github.io/spear-flp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jpg"/><Relationship Id="rId4" Type="http://schemas.openxmlformats.org/officeDocument/2006/relationships/image" Target="../media/image26.jp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youtube.com/watch?v=Avr3TEj6lrw" TargetMode="External"/><Relationship Id="rId4" Type="http://schemas.openxmlformats.org/officeDocument/2006/relationships/image" Target="../media/image2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zappalaja/spear-climate-chatbot" TargetMode="External"/><Relationship Id="rId4" Type="http://schemas.openxmlformats.org/officeDocument/2006/relationships/hyperlink" Target="https://github.com/zappalaja/spear-mcp-test" TargetMode="External"/><Relationship Id="rId5" Type="http://schemas.openxmlformats.org/officeDocument/2006/relationships/hyperlink" Target="https://github.com/zappalaja/SPEAR-RAG-Ingestion" TargetMode="External"/><Relationship Id="rId6" Type="http://schemas.openxmlformats.org/officeDocument/2006/relationships/hyperlink" Target="https://github.com/zappalaja/SPEAR_RAG_Retrieval_Service" TargetMode="External"/><Relationship Id="rId7" Type="http://schemas.openxmlformats.org/officeDocument/2006/relationships/hyperlink" Target="https://github.com/zappalaja/SPEAR_Earth_System_Data_Assistant" TargetMode="External"/><Relationship Id="rId8" Type="http://schemas.openxmlformats.org/officeDocument/2006/relationships/hyperlink" Target="https://noaa-gfdl-spear-large-ensembles-pds.s3.amazonaws.com/index.html#SPEAR/GFDL-LARGE-ENSEMBLES/CMIP/NOAA-GFDL/GFDL-SPEAR-MED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it.ly/4lF1rT1" TargetMode="External"/><Relationship Id="rId4" Type="http://schemas.openxmlformats.org/officeDocument/2006/relationships/hyperlink" Target="mailto:jake.zappala@noaa.gov" TargetMode="External"/><Relationship Id="rId5" Type="http://schemas.openxmlformats.org/officeDocument/2006/relationships/hyperlink" Target="http://linkedin.com/in/jake-zappal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1784250" y="1808950"/>
            <a:ext cx="5575500" cy="140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Data Exploration Hub:</a:t>
            </a:r>
            <a:endParaRPr b="1" sz="3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AI-Powered Chatbot Application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Jake Zappala</a:t>
            </a:r>
            <a:r>
              <a:rPr b="1" baseline="30000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Aparna Radhakrishnan</a:t>
            </a:r>
            <a:r>
              <a:rPr b="1" baseline="30000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Soelem Aafnan Bhuiyan</a:t>
            </a:r>
            <a:r>
              <a:rPr b="1" baseline="30000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Aria Radick</a:t>
            </a:r>
            <a:r>
              <a:rPr b="1" baseline="30000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(1) Princeton University CIMES, (2) SAIC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4650" y="3435625"/>
            <a:ext cx="1404700" cy="140472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idx="1" type="subTitle"/>
          </p:nvPr>
        </p:nvSpPr>
        <p:spPr>
          <a:xfrm>
            <a:off x="364550" y="4050150"/>
            <a:ext cx="4113900" cy="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GFDL Data Science Group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2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Acknowledgement</a:t>
            </a:r>
            <a:endParaRPr b="1" sz="302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11700" y="863550"/>
            <a:ext cx="8520600" cy="3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8">
                <a:latin typeface="Calibri"/>
                <a:ea typeface="Calibri"/>
                <a:cs typeface="Calibri"/>
                <a:sym typeface="Calibri"/>
              </a:rPr>
              <a:t>SPEAR Forward Looking Projections IRA Funding</a:t>
            </a:r>
            <a:endParaRPr sz="166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8"/>
              <a:buFont typeface="Arial"/>
              <a:buNone/>
            </a:pPr>
            <a:r>
              <a:rPr lang="en" sz="1668">
                <a:latin typeface="Calibri"/>
                <a:ea typeface="Calibri"/>
                <a:cs typeface="Calibri"/>
                <a:sym typeface="Calibri"/>
              </a:rPr>
              <a:t>NCEI  </a:t>
            </a:r>
            <a:endParaRPr sz="166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68">
                <a:latin typeface="Calibri"/>
                <a:ea typeface="Calibri"/>
                <a:cs typeface="Calibri"/>
                <a:sym typeface="Calibri"/>
              </a:rPr>
              <a:t>Special Thanks</a:t>
            </a:r>
            <a:endParaRPr b="1" sz="166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8">
                <a:latin typeface="Calibri"/>
                <a:ea typeface="Calibri"/>
                <a:cs typeface="Calibri"/>
                <a:sym typeface="Calibri"/>
              </a:rPr>
              <a:t>Ramaswamy V., </a:t>
            </a:r>
            <a:r>
              <a:rPr lang="en" sz="166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 A., Lauren K., </a:t>
            </a:r>
            <a:r>
              <a:rPr lang="en" sz="1668">
                <a:latin typeface="Calibri"/>
                <a:ea typeface="Calibri"/>
                <a:cs typeface="Calibri"/>
                <a:sym typeface="Calibri"/>
              </a:rPr>
              <a:t>Amanda M., Dan B., Tom D., Hiro M., </a:t>
            </a:r>
            <a:r>
              <a:rPr lang="en" sz="166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Russell V., </a:t>
            </a:r>
            <a:r>
              <a:rPr lang="en" sz="1668">
                <a:latin typeface="Calibri"/>
                <a:ea typeface="Calibri"/>
                <a:cs typeface="Calibri"/>
                <a:sym typeface="Calibri"/>
              </a:rPr>
              <a:t>Andrew R., Chandin W., Ian L., MSD, NOAA Climate Projections Task Force, and many more!</a:t>
            </a:r>
            <a:endParaRPr sz="166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8"/>
              <a:buFont typeface="Arial"/>
              <a:buNone/>
            </a:pPr>
            <a:r>
              <a:t/>
            </a:r>
            <a:endParaRPr sz="166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Project outreach page: </a:t>
            </a:r>
            <a:r>
              <a:rPr lang="en" sz="2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Here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123450" y="0"/>
            <a:ext cx="9020400" cy="111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Key Terms </a:t>
            </a:r>
            <a:endParaRPr sz="2900"/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119" name="Google Shape;119;p17"/>
          <p:cNvSpPr txBox="1"/>
          <p:nvPr/>
        </p:nvSpPr>
        <p:spPr>
          <a:xfrm>
            <a:off x="311700" y="1311925"/>
            <a:ext cx="8655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SPEAR</a:t>
            </a:r>
            <a:r>
              <a:rPr lang="en" sz="1600">
                <a:solidFill>
                  <a:schemeClr val="dk1"/>
                </a:solidFill>
              </a:rPr>
              <a:t> - </a:t>
            </a:r>
            <a:r>
              <a:rPr lang="en" sz="1600"/>
              <a:t>(</a:t>
            </a:r>
            <a:r>
              <a:rPr lang="en" sz="1600" u="sng"/>
              <a:t>S</a:t>
            </a:r>
            <a:r>
              <a:rPr lang="en" sz="1600"/>
              <a:t>eamless System for </a:t>
            </a:r>
            <a:r>
              <a:rPr lang="en" sz="1600" u="sng"/>
              <a:t>P</a:t>
            </a:r>
            <a:r>
              <a:rPr lang="en" sz="1600"/>
              <a:t>rediction and </a:t>
            </a:r>
            <a:r>
              <a:rPr lang="en" sz="1600" u="sng"/>
              <a:t>EA</a:t>
            </a:r>
            <a:r>
              <a:rPr lang="en" sz="1600"/>
              <a:t>rth System </a:t>
            </a:r>
            <a:r>
              <a:rPr lang="en" sz="1600" u="sng"/>
              <a:t>R</a:t>
            </a:r>
            <a:r>
              <a:rPr lang="en" sz="1600"/>
              <a:t>esearch)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NOAA GFDL’s Earth system model for seasonal to long-scale climate prediction and projection.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LLMs</a:t>
            </a:r>
            <a:r>
              <a:rPr lang="en" sz="1600"/>
              <a:t> - (Large Language Models)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 neural network trained in large text datasets to generate and interpret human language.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MCP </a:t>
            </a:r>
            <a:r>
              <a:rPr lang="en" sz="1600">
                <a:solidFill>
                  <a:schemeClr val="dk1"/>
                </a:solidFill>
              </a:rPr>
              <a:t>- (Model Context Protocol)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 standardized interface enabling </a:t>
            </a:r>
            <a:r>
              <a:rPr lang="en" sz="1600">
                <a:solidFill>
                  <a:schemeClr val="dk1"/>
                </a:solidFill>
              </a:rPr>
              <a:t>LLMs</a:t>
            </a:r>
            <a:r>
              <a:rPr lang="en" sz="1600">
                <a:solidFill>
                  <a:schemeClr val="dk1"/>
                </a:solidFill>
              </a:rPr>
              <a:t> to securely interact with data and tools.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RAG</a:t>
            </a:r>
            <a:r>
              <a:rPr lang="en" sz="1600">
                <a:solidFill>
                  <a:schemeClr val="dk1"/>
                </a:solidFill>
              </a:rPr>
              <a:t> - (Retrieval-Augmented Generation)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 technique that grounds AI responses using retrieved documents.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STAC</a:t>
            </a:r>
            <a:r>
              <a:rPr lang="en" sz="1600">
                <a:solidFill>
                  <a:schemeClr val="dk1"/>
                </a:solidFill>
              </a:rPr>
              <a:t> - (SpatioTemporal Asset Catalog)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 standardized metadata framework for indexing and accessing geospatial datasets.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575" y="941600"/>
            <a:ext cx="2637300" cy="21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50" y="941600"/>
            <a:ext cx="2637300" cy="21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311750" y="3587825"/>
            <a:ext cx="26373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expand access to SPEAR large-ensemble earth system data and insights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311750" y="3225125"/>
            <a:ext cx="2641800" cy="362700"/>
          </a:xfrm>
          <a:prstGeom prst="rect">
            <a:avLst/>
          </a:prstGeom>
          <a:solidFill>
            <a:srgbClr val="008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The Why, What and How</a:t>
            </a:r>
            <a:endParaRPr b="1" sz="300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3166525" y="3587700"/>
            <a:ext cx="26418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SPEAR Earth System Data Assistant, publicly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accessible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grounded responses from supplied documentation.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021400" y="3225125"/>
            <a:ext cx="2641800" cy="362700"/>
          </a:xfrm>
          <a:prstGeom prst="rect">
            <a:avLst/>
          </a:prstGeom>
          <a:solidFill>
            <a:srgbClr val="008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3166575" y="3225125"/>
            <a:ext cx="2641800" cy="362700"/>
          </a:xfrm>
          <a:prstGeom prst="rect">
            <a:avLst/>
          </a:prstGeom>
          <a:solidFill>
            <a:srgbClr val="008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6021400" y="3587825"/>
            <a:ext cx="28110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Streamlit,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Large Language Models,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Model Context Protocol,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Retrieval-Augmented Generation.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513" marR="143256" rtl="0" algn="l">
              <a:lnSpc>
                <a:spcPct val="95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6297"/>
          <a:stretch/>
        </p:blipFill>
        <p:spPr>
          <a:xfrm>
            <a:off x="6021400" y="1009325"/>
            <a:ext cx="1314725" cy="10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1400" y="1998475"/>
            <a:ext cx="1331651" cy="10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6125" y="941600"/>
            <a:ext cx="1314724" cy="10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6125" y="2000825"/>
            <a:ext cx="1314724" cy="10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9"/>
          <p:cNvSpPr txBox="1"/>
          <p:nvPr>
            <p:ph type="title"/>
          </p:nvPr>
        </p:nvSpPr>
        <p:spPr>
          <a:xfrm>
            <a:off x="123450" y="0"/>
            <a:ext cx="9020400" cy="111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Providing Insight and Lowering Barriers to SPEAR Results</a:t>
            </a:r>
            <a:endParaRPr sz="2900"/>
          </a:p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145" name="Google Shape;145;p19"/>
          <p:cNvSpPr txBox="1"/>
          <p:nvPr/>
        </p:nvSpPr>
        <p:spPr>
          <a:xfrm>
            <a:off x="311700" y="1311925"/>
            <a:ext cx="7614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Goals: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Making earth system model data more reachable.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For those with AND without climate/science </a:t>
            </a:r>
            <a:r>
              <a:rPr lang="en" sz="2000">
                <a:solidFill>
                  <a:schemeClr val="dk1"/>
                </a:solidFill>
              </a:rPr>
              <a:t>backgrounds.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Continuous user engagement and enhanced service delivery.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Building best practices for others with similar interests.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Publicly available on Github with clear documentation.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To provide a conversational method of inspecting, extracting and analyzing SPEAR output.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339" y="3689659"/>
            <a:ext cx="3009960" cy="111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0"/>
          <p:cNvSpPr txBox="1"/>
          <p:nvPr>
            <p:ph type="title"/>
          </p:nvPr>
        </p:nvSpPr>
        <p:spPr>
          <a:xfrm>
            <a:off x="311700" y="270675"/>
            <a:ext cx="8709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Grounded Responses Using Supplied Documentation</a:t>
            </a:r>
            <a:endParaRPr/>
          </a:p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154" name="Google Shape;154;p20"/>
          <p:cNvSpPr txBox="1"/>
          <p:nvPr/>
        </p:nvSpPr>
        <p:spPr>
          <a:xfrm>
            <a:off x="311700" y="1311925"/>
            <a:ext cx="8655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Credible and reproducible AI responses are paramount.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Explicit instructions for increased safety.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Restricted discussion topics.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Use of responsible AI tools.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Responses based on provided documentation and training base knowledge.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Qualitative confidence estimates for </a:t>
            </a:r>
            <a:r>
              <a:rPr lang="en" sz="2000">
                <a:solidFill>
                  <a:schemeClr val="dk1"/>
                </a:solidFill>
              </a:rPr>
              <a:t>responses.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Future steps include pre-computed diagnostic plots.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275" y="3327100"/>
            <a:ext cx="1604525" cy="16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1"/>
          <p:cNvSpPr txBox="1"/>
          <p:nvPr>
            <p:ph type="title"/>
          </p:nvPr>
        </p:nvSpPr>
        <p:spPr>
          <a:xfrm>
            <a:off x="311700" y="270675"/>
            <a:ext cx="8709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Increased Transparency in AI Responses</a:t>
            </a:r>
            <a:endParaRPr/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163" name="Google Shape;163;p21"/>
          <p:cNvSpPr txBox="1"/>
          <p:nvPr/>
        </p:nvSpPr>
        <p:spPr>
          <a:xfrm>
            <a:off x="311700" y="1311925"/>
            <a:ext cx="8655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Users are informed about the sources of content used in responses.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Ability to view and read the documents in the </a:t>
            </a:r>
            <a:r>
              <a:rPr lang="en" sz="2000">
                <a:solidFill>
                  <a:schemeClr val="dk1"/>
                </a:solidFill>
              </a:rPr>
              <a:t>chatbot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supplemental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knowledge base.</a:t>
            </a:r>
            <a:r>
              <a:rPr lang="en" sz="2000">
                <a:solidFill>
                  <a:schemeClr val="dk1"/>
                </a:solidFill>
              </a:rPr>
              <a:t> 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Interactive overview of data extraction tools and files used to generate tables, plots or analysis. 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Ability to investigate sources with two additional tabs: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RAG Overview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MCP Tools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050" y="3484054"/>
            <a:ext cx="2530950" cy="145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 title="Screenshot 2026-03-17 1629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5425" y="3502525"/>
            <a:ext cx="300990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7735" l="8950" r="10131" t="24117"/>
          <a:stretch/>
        </p:blipFill>
        <p:spPr>
          <a:xfrm>
            <a:off x="788525" y="1263500"/>
            <a:ext cx="7588724" cy="35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2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SPEAR Earth System Data Assistant</a:t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631750" y="2905634"/>
            <a:ext cx="12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2720550" y="1908325"/>
            <a:ext cx="12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Streamlit UI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2720550" y="2851788"/>
            <a:ext cx="12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4840116" y="3637981"/>
            <a:ext cx="198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RAG Retrieval Server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2066991" y="4440075"/>
            <a:ext cx="12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5232925" y="2066788"/>
            <a:ext cx="1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7355725" y="2374950"/>
            <a:ext cx="1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SPEAR Output Database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7355725" y="3867375"/>
            <a:ext cx="1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Chroma Database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3223912" y="3408155"/>
            <a:ext cx="6633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4138761" y="2272271"/>
            <a:ext cx="6633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4584704" y="3222183"/>
            <a:ext cx="6633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6697170" y="1786901"/>
            <a:ext cx="8937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Tools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6581726" y="3035082"/>
            <a:ext cx="1173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Calls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2430097" y="1294966"/>
            <a:ext cx="43011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SPEAR Earth System Data Assistant Pod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3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 UI</a:t>
            </a:r>
            <a:endParaRPr/>
          </a:p>
        </p:txBody>
      </p:sp>
      <p:sp>
        <p:nvSpPr>
          <p:cNvPr id="193" name="Google Shape;193;p23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194" name="Google Shape;194;p23"/>
          <p:cNvSpPr txBox="1"/>
          <p:nvPr/>
        </p:nvSpPr>
        <p:spPr>
          <a:xfrm>
            <a:off x="311700" y="1311925"/>
            <a:ext cx="8655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web application framework designed to easily build interactive dashboards directly from Python scripts (no HTML or Java needed).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ans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Serves as our chatbot UI displayed via localhost.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for: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 Regulation: List of topics to not engage with, what not to say, etc.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Controlled Vocabulary: Standard SPEAR variable names to be used in chats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Scripted Welcome Message.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Qualitative confidence estimates provided at the end of each response.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Easily view chatbot logs and conversation history.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eautify this slide" id="195" name="Google Shape;195;p23"/>
          <p:cNvPicPr preferRelativeResize="0"/>
          <p:nvPr/>
        </p:nvPicPr>
        <p:blipFill rotWithShape="1">
          <a:blip r:embed="rId3">
            <a:alphaModFix/>
          </a:blip>
          <a:srcRect b="10140" l="1668" r="1919" t="18802"/>
          <a:stretch/>
        </p:blipFill>
        <p:spPr>
          <a:xfrm>
            <a:off x="87125" y="1251375"/>
            <a:ext cx="8880176" cy="36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789075" y="1251374"/>
            <a:ext cx="4102800" cy="7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web application framework designed to easily build interactive dashboards directly from Python scripts (no HTML or Java needed).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789075" y="2038166"/>
            <a:ext cx="4102800" cy="8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Serves as our chatbot UI displayed via localhost.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87125" y="2581166"/>
            <a:ext cx="4804800" cy="227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for: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 Regulation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Controlled Vocabulary, Multi-User Support and Authentication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Scripted welcome message.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Qualitative confidence estimates provided at the end of each response.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Easily view chatbot logs and conversation history.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3" title="Screenshot 2026-03-17 173017.png"/>
          <p:cNvPicPr preferRelativeResize="0"/>
          <p:nvPr/>
        </p:nvPicPr>
        <p:blipFill rotWithShape="1">
          <a:blip r:embed="rId4">
            <a:alphaModFix/>
          </a:blip>
          <a:srcRect b="0" l="30786" r="12810" t="0"/>
          <a:stretch/>
        </p:blipFill>
        <p:spPr>
          <a:xfrm>
            <a:off x="4946894" y="1311925"/>
            <a:ext cx="4020405" cy="342750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/>
        </p:nvSpPr>
        <p:spPr>
          <a:xfrm>
            <a:off x="311700" y="1311925"/>
            <a:ext cx="8655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Compatible</a:t>
            </a:r>
            <a:r>
              <a:rPr lang="en" sz="2700">
                <a:solidFill>
                  <a:schemeClr val="dk1"/>
                </a:solidFill>
              </a:rPr>
              <a:t> with locally and remotely hosted models. 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Local Ollama </a:t>
            </a:r>
            <a:endParaRPr sz="2700">
              <a:solidFill>
                <a:schemeClr val="dk1"/>
              </a:solidFill>
            </a:endParaRPr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" sz="2700">
                <a:solidFill>
                  <a:schemeClr val="dk1"/>
                </a:solidFill>
              </a:rPr>
              <a:t>Llama, Qwen, Gemma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Remote API</a:t>
            </a:r>
            <a:endParaRPr sz="2700">
              <a:solidFill>
                <a:schemeClr val="dk1"/>
              </a:solidFill>
            </a:endParaRPr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" sz="2700">
                <a:solidFill>
                  <a:schemeClr val="dk1"/>
                </a:solidFill>
              </a:rPr>
              <a:t>Gemini, </a:t>
            </a:r>
            <a:r>
              <a:rPr lang="en" sz="2700">
                <a:solidFill>
                  <a:schemeClr val="dk1"/>
                </a:solidFill>
              </a:rPr>
              <a:t>Claude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Handles response generation and tool execution.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Decides between RAG content or MCP tool usage.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205" name="Google Shape;205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24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 (LLM)</a:t>
            </a:r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29057" l="12824" r="0" t="29492"/>
          <a:stretch/>
        </p:blipFill>
        <p:spPr>
          <a:xfrm>
            <a:off x="6938475" y="2799935"/>
            <a:ext cx="1688125" cy="451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0841" y="2250769"/>
            <a:ext cx="13390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2400" y="2149743"/>
            <a:ext cx="993201" cy="52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0913" y="2764150"/>
            <a:ext cx="1307563" cy="5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2307" y="1921993"/>
            <a:ext cx="1084994" cy="8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5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Context Protocol (MCP)</a:t>
            </a:r>
            <a:endParaRPr/>
          </a:p>
        </p:txBody>
      </p:sp>
      <p:sp>
        <p:nvSpPr>
          <p:cNvPr id="218" name="Google Shape;218;p25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pic>
        <p:nvPicPr>
          <p:cNvPr id="219" name="Google Shape;219;p25"/>
          <p:cNvPicPr preferRelativeResize="0"/>
          <p:nvPr/>
        </p:nvPicPr>
        <p:blipFill rotWithShape="1">
          <a:blip r:embed="rId3">
            <a:alphaModFix/>
          </a:blip>
          <a:srcRect b="23025" l="1627" r="88786" t="23368"/>
          <a:stretch/>
        </p:blipFill>
        <p:spPr>
          <a:xfrm>
            <a:off x="102775" y="1372575"/>
            <a:ext cx="1097368" cy="342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/>
          <p:nvPr/>
        </p:nvSpPr>
        <p:spPr>
          <a:xfrm>
            <a:off x="5206500" y="1178775"/>
            <a:ext cx="3937500" cy="362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Image here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4800" y="1275675"/>
            <a:ext cx="3427500" cy="342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1245075" y="1275670"/>
            <a:ext cx="4114800" cy="112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standardized communication method that enables Large Language Models (LLMs) to exchange information with external systems, databases and services.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1245075" y="2700084"/>
            <a:ext cx="4114800" cy="9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secure and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access to data and tools that would otherwise be unavailable to AI models.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1200150" y="3899475"/>
            <a:ext cx="4114800" cy="9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 simple JSON format for consistent interoperable communication (HTTP).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6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SPEAR Earth System Data Assistant MCP Server</a:t>
            </a:r>
            <a:endParaRPr/>
          </a:p>
        </p:txBody>
      </p:sp>
      <p:sp>
        <p:nvSpPr>
          <p:cNvPr id="231" name="Google Shape;231;p26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232" name="Google Shape;232;p26"/>
          <p:cNvSpPr txBox="1"/>
          <p:nvPr/>
        </p:nvSpPr>
        <p:spPr>
          <a:xfrm>
            <a:off x="311700" y="1239311"/>
            <a:ext cx="8655600" cy="3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for NetCDF </a:t>
            </a: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inspection and extraction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○"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○"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arrays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○"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and file browsing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different server configurations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○"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cloud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○"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Locally mounted filesystems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○"/>
            </a:pPr>
            <a:r>
              <a:rPr lang="en" sz="2900"/>
              <a:t>SpatioTemporal Asset Catalogs (STAC)</a:t>
            </a:r>
            <a:r>
              <a:rPr lang="en"/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6" title="Screenshot 2026-03-17 173414.png"/>
          <p:cNvPicPr preferRelativeResize="0"/>
          <p:nvPr/>
        </p:nvPicPr>
        <p:blipFill rotWithShape="1">
          <a:blip r:embed="rId3">
            <a:alphaModFix/>
          </a:blip>
          <a:srcRect b="0" l="34305" r="18048" t="12134"/>
          <a:stretch/>
        </p:blipFill>
        <p:spPr>
          <a:xfrm>
            <a:off x="6035169" y="1801291"/>
            <a:ext cx="2917249" cy="25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27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Retrieval-Augmented Generation (RAG)</a:t>
            </a:r>
            <a:endParaRPr/>
          </a:p>
        </p:txBody>
      </p:sp>
      <p:sp>
        <p:nvSpPr>
          <p:cNvPr id="240" name="Google Shape;240;p27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241" name="Google Shape;241;p27"/>
          <p:cNvSpPr txBox="1"/>
          <p:nvPr/>
        </p:nvSpPr>
        <p:spPr>
          <a:xfrm>
            <a:off x="311700" y="1311925"/>
            <a:ext cx="8655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Retrieves info from trusted documents before responding.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answers are grounded in SPEAR and stakeholder documentation, such as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hallucinations and improves factual accuracy.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the chatbot to answer questions using up-to-date, project-specific information.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primary stages to RAG.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merican Society of Civil Engineers ..." id="242" name="Google Shape;2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9700" y="3913900"/>
            <a:ext cx="2042150" cy="8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date Google NotebookLM: NotebookLM is now available to all education users" id="243" name="Google Shape;243;p27"/>
          <p:cNvPicPr preferRelativeResize="0"/>
          <p:nvPr/>
        </p:nvPicPr>
        <p:blipFill rotWithShape="1">
          <a:blip r:embed="rId4">
            <a:alphaModFix/>
          </a:blip>
          <a:srcRect b="23505" l="0" r="0" t="5804"/>
          <a:stretch/>
        </p:blipFill>
        <p:spPr>
          <a:xfrm>
            <a:off x="7001850" y="3913900"/>
            <a:ext cx="1470601" cy="111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RAG: Stage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Text Extraction </a:t>
            </a:r>
            <a:r>
              <a:rPr lang="en" sz="2400"/>
              <a:t>from PDF</a:t>
            </a:r>
            <a:endParaRPr sz="2400"/>
          </a:p>
        </p:txBody>
      </p:sp>
      <p:sp>
        <p:nvSpPr>
          <p:cNvPr id="250" name="Google Shape;250;p28"/>
          <p:cNvSpPr txBox="1"/>
          <p:nvPr>
            <p:ph idx="12" type="sldNum"/>
          </p:nvPr>
        </p:nvSpPr>
        <p:spPr>
          <a:xfrm>
            <a:off x="6035178" y="3047199"/>
            <a:ext cx="390000" cy="279900"/>
          </a:xfrm>
          <a:prstGeom prst="rect">
            <a:avLst/>
          </a:prstGeom>
        </p:spPr>
        <p:txBody>
          <a:bodyPr anchorCtr="0" anchor="ctr" bIns="64975" lIns="64975" spcFirstLastPara="1" rIns="64975" wrap="square" tIns="649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568"/>
              <a:t>‹#›</a:t>
            </a:fld>
            <a:endParaRPr sz="568"/>
          </a:p>
        </p:txBody>
      </p:sp>
      <p:sp>
        <p:nvSpPr>
          <p:cNvPr id="251" name="Google Shape;251;p28"/>
          <p:cNvSpPr txBox="1"/>
          <p:nvPr/>
        </p:nvSpPr>
        <p:spPr>
          <a:xfrm>
            <a:off x="311700" y="1311925"/>
            <a:ext cx="8655600" cy="3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eautify this slide" id="252" name="Google Shape;252;p28"/>
          <p:cNvPicPr preferRelativeResize="0"/>
          <p:nvPr/>
        </p:nvPicPr>
        <p:blipFill rotWithShape="1">
          <a:blip r:embed="rId3">
            <a:alphaModFix/>
          </a:blip>
          <a:srcRect b="7855" l="0" r="0" t="24076"/>
          <a:stretch/>
        </p:blipFill>
        <p:spPr>
          <a:xfrm>
            <a:off x="0" y="1263475"/>
            <a:ext cx="9144000" cy="347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/>
        </p:nvSpPr>
        <p:spPr>
          <a:xfrm>
            <a:off x="607525" y="3202525"/>
            <a:ext cx="3606600" cy="153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neural OCR model converting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pixels to words.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Understands document layouts and produces structured text and equations.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5794500" y="3535875"/>
            <a:ext cx="3037800" cy="99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“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repetition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collapse” on figure-dense pages by skipping problematic pages.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5010095" y="2456463"/>
            <a:ext cx="3798000" cy="81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Extracts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embedded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PDF text. Only used on pages skipped by Nougat.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60" name="Google Shape;2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9"/>
          <p:cNvSpPr txBox="1"/>
          <p:nvPr>
            <p:ph idx="4294967295" type="title"/>
          </p:nvPr>
        </p:nvSpPr>
        <p:spPr>
          <a:xfrm>
            <a:off x="309338" y="500625"/>
            <a:ext cx="8520600" cy="572700"/>
          </a:xfrm>
          <a:prstGeom prst="rect">
            <a:avLst/>
          </a:prstGeom>
          <a:solidFill>
            <a:srgbClr val="01184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Ingestion and Retrieval from Chroma Database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6356150" y="4047025"/>
            <a:ext cx="2166300" cy="71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118482" y="4107539"/>
            <a:ext cx="2166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1" sz="22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89366" y="1275587"/>
            <a:ext cx="2166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Ingestion</a:t>
            </a:r>
            <a:endParaRPr b="1" sz="22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 txBox="1"/>
          <p:nvPr>
            <p:ph idx="4294967295" type="title"/>
          </p:nvPr>
        </p:nvSpPr>
        <p:spPr>
          <a:xfrm>
            <a:off x="1139339" y="36307"/>
            <a:ext cx="7334700" cy="572700"/>
          </a:xfrm>
          <a:prstGeom prst="rect">
            <a:avLst/>
          </a:prstGeom>
          <a:solidFill>
            <a:srgbClr val="01184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Stages 2 and 3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0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SPEAR Earth System Data Assistant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272" name="Google Shape;272;p30"/>
          <p:cNvSpPr txBox="1"/>
          <p:nvPr/>
        </p:nvSpPr>
        <p:spPr>
          <a:xfrm>
            <a:off x="0" y="4350325"/>
            <a:ext cx="1454700" cy="78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*If video is blurry,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playback quality to 1080p</a:t>
            </a:r>
            <a:r>
              <a:rPr baseline="3000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</a:t>
            </a:r>
            <a:endParaRPr baseline="3000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0" title="SPEAR Earth System Data Assistan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700" y="1331450"/>
            <a:ext cx="6058625" cy="340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1"/>
          <p:cNvPicPr preferRelativeResize="0"/>
          <p:nvPr/>
        </p:nvPicPr>
        <p:blipFill rotWithShape="1">
          <a:blip r:embed="rId3">
            <a:alphaModFix/>
          </a:blip>
          <a:srcRect b="0" l="0" r="43400" t="0"/>
          <a:stretch/>
        </p:blipFill>
        <p:spPr>
          <a:xfrm>
            <a:off x="0" y="0"/>
            <a:ext cx="29112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3166400" y="872621"/>
            <a:ext cx="5512200" cy="3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computational load.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Pre-computed diagnostic plots.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 data interactions.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Zarr and Icechunk, instead of NetCDF.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Fine-tuning of a locally run LLM.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Benchmarking included.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generation enhancements (manuscript ready plots).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1"/>
          <p:cNvSpPr txBox="1"/>
          <p:nvPr/>
        </p:nvSpPr>
        <p:spPr>
          <a:xfrm>
            <a:off x="3166400" y="292625"/>
            <a:ext cx="551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20">
                <a:solidFill>
                  <a:srgbClr val="001743"/>
                </a:solidFill>
                <a:latin typeface="Calibri"/>
                <a:ea typeface="Calibri"/>
                <a:cs typeface="Calibri"/>
                <a:sym typeface="Calibri"/>
              </a:rPr>
              <a:t>On the Horizon</a:t>
            </a:r>
            <a:endParaRPr b="1" sz="3020">
              <a:solidFill>
                <a:srgbClr val="0017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Repositories</a:t>
            </a:r>
            <a:endParaRPr/>
          </a:p>
        </p:txBody>
      </p:sp>
      <p:sp>
        <p:nvSpPr>
          <p:cNvPr id="287" name="Google Shape;287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2"/>
          <p:cNvSpPr txBox="1"/>
          <p:nvPr/>
        </p:nvSpPr>
        <p:spPr>
          <a:xfrm>
            <a:off x="433050" y="1175729"/>
            <a:ext cx="8277900" cy="3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 UI: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https://github.com/zappalaja/spear-climate-chatbot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Server: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https://github.com/zappalaja/spear-mcp-test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Ingestion: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https://github.com/zappalaja/SPEAR-RAG-Ingestion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Service: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https://github.com/zappalaja/SPEAR_RAG_Retrieval_Service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SPEAR ESDA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(all components above):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https://github.com/zappalaja/SPEAR_Earth_System_Data_Assistant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SPEAR AWS 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https://noaa-gfdl-spear-large-ensembles-pds.s3.amazonaws.com/index.html#SPEAR/GFDL-LARGE-ENSEMBLES/CMIP/NOAA-GFDL/GFDL-SPEAR-MED/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33"/>
          <p:cNvSpPr txBox="1"/>
          <p:nvPr/>
        </p:nvSpPr>
        <p:spPr>
          <a:xfrm>
            <a:off x="5045175" y="1252875"/>
            <a:ext cx="357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1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5045175" y="1929975"/>
            <a:ext cx="35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 questions/feedback anytime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https://bit.ly/4lF1rT1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5045175" y="2620425"/>
            <a:ext cx="357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Info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5045175" y="3189275"/>
            <a:ext cx="357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jake.zappala@noaa.gov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linkedin.com/in/jake-zappala/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-2">
  <a:themeElements>
    <a:clrScheme name="Simple Light">
      <a:dk1>
        <a:srgbClr val="000000"/>
      </a:dk1>
      <a:lt1>
        <a:srgbClr val="FFFFFF"/>
      </a:lt1>
      <a:dk2>
        <a:srgbClr val="323C46"/>
      </a:dk2>
      <a:lt2>
        <a:srgbClr val="CBCFD1"/>
      </a:lt2>
      <a:accent1>
        <a:srgbClr val="003087"/>
      </a:accent1>
      <a:accent2>
        <a:srgbClr val="0085CA"/>
      </a:accent2>
      <a:accent3>
        <a:srgbClr val="001743"/>
      </a:accent3>
      <a:accent4>
        <a:srgbClr val="B71400"/>
      </a:accent4>
      <a:accent5>
        <a:srgbClr val="FF8400"/>
      </a:accent5>
      <a:accent6>
        <a:srgbClr val="EDD90B"/>
      </a:accent6>
      <a:hlink>
        <a:srgbClr val="00308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